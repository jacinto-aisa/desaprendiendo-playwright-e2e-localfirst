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32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" y="804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B8C8"/>
                </a:solidFill>
              </a:rPr>
              <a:t>Curso JARDIN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1298448"/>
            <a:ext cx="6720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Programar con IA sin perder criterio arquitectónico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13232" y="277977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9FB3BD"/>
                </a:solidFill>
              </a:rPr>
              <a:t>Un marco práctico para que programadores junior sepan evaluar, diseñar y mejorar el código que escriben ellos… o que les propone una 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3232" y="3703320"/>
            <a:ext cx="1965960" cy="320040"/>
          </a:xfrm>
          <a:prstGeom prst="roundRect">
            <a:avLst>
              <a:gd name="adj" fmla="val 45714"/>
            </a:avLst>
          </a:prstGeom>
          <a:solidFill>
            <a:srgbClr val="18B8C8">
              <a:alpha val="16000"/>
            </a:srgbClr>
          </a:solidFill>
          <a:ln w="12700">
            <a:solidFill>
              <a:srgbClr val="18B8C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22960" y="378561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J · A · R · D · I · N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2788920" y="3703320"/>
            <a:ext cx="1920240" cy="320040"/>
          </a:xfrm>
          <a:prstGeom prst="roundRect">
            <a:avLst>
              <a:gd name="adj" fmla="val 4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898648" y="3785616"/>
            <a:ext cx="17007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Formación in-company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4828032" y="3703320"/>
            <a:ext cx="2240280" cy="320040"/>
          </a:xfrm>
          <a:prstGeom prst="roundRect">
            <a:avLst>
              <a:gd name="adj" fmla="val 4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937760" y="3785616"/>
            <a:ext cx="2020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Arquitectura básica aplicada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7543800" y="749808"/>
            <a:ext cx="3611880" cy="4709160"/>
          </a:xfrm>
          <a:prstGeom prst="roundRect">
            <a:avLst>
              <a:gd name="adj" fmla="val 45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955280" y="1051560"/>
            <a:ext cx="2743200" cy="2743200"/>
          </a:xfrm>
          <a:prstGeom prst="arc">
            <a:avLst/>
          </a:prstGeom>
          <a:solidFill>
            <a:srgbClr val="18B8C8">
              <a:alpha val="2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348472" y="16276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AF2F5"/>
                </a:solidFill>
              </a:rPr>
              <a:t>IA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034272" y="2414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8B8C8"/>
                </a:solidFill>
              </a:rPr>
              <a:t>+</a:t>
            </a:r>
            <a:endParaRPr lang="en-US" sz="3500" dirty="0"/>
          </a:p>
        </p:txBody>
      </p:sp>
      <p:sp>
        <p:nvSpPr>
          <p:cNvPr id="21" name="Text 18"/>
          <p:cNvSpPr/>
          <p:nvPr/>
        </p:nvSpPr>
        <p:spPr>
          <a:xfrm>
            <a:off x="7909560" y="4005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2F5"/>
                </a:solidFill>
              </a:rPr>
              <a:t>criterio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29600" y="4526280"/>
            <a:ext cx="2286000" cy="0"/>
          </a:xfrm>
          <a:prstGeom prst="line">
            <a:avLst/>
          </a:prstGeom>
          <a:noFill/>
          <a:ln w="25400">
            <a:solidFill>
              <a:srgbClr val="18B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936992" y="47914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3BD"/>
                </a:solidFill>
              </a:rPr>
              <a:t>software mantenible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nuevo problema: juniors + IA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La IA acelera la escritura de código, pero no garantiza una buena decisión de diseño.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77240" y="1371600"/>
            <a:ext cx="36576" cy="868680"/>
          </a:xfrm>
          <a:prstGeom prst="rect">
            <a:avLst/>
          </a:prstGeom>
          <a:solidFill>
            <a:srgbClr val="18B8C8"/>
          </a:solidFill>
          <a:ln w="12700">
            <a:solidFill>
              <a:srgbClr val="18B8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914400" y="1325880"/>
            <a:ext cx="51663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AF2F5"/>
                </a:solidFill>
              </a:rPr>
              <a:t>Cuando falta criterio, la IA no reduce la deuda técnica: la multiplica a más velocidad.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325880"/>
            <a:ext cx="2194560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5C7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528816" y="14721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AF2F5"/>
                </a:solidFill>
              </a:rPr>
              <a:t>Código que funciona hoy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528816" y="1773936"/>
            <a:ext cx="19385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9FB3BD"/>
                </a:solidFill>
              </a:rPr>
              <a:t>pero nadie sabe por qué funciona mañana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8823960" y="1325880"/>
            <a:ext cx="2194560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5C7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951976" y="147218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AF2F5"/>
                </a:solidFill>
              </a:rPr>
              <a:t>Abstracciones falsas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8951976" y="1773936"/>
            <a:ext cx="19385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9FB3BD"/>
                </a:solidFill>
              </a:rPr>
              <a:t>clases, capas o patrones generados por inercia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400800" y="2834640"/>
            <a:ext cx="2194560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5C7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528816" y="298094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AF2F5"/>
                </a:solidFill>
              </a:rPr>
              <a:t>Pruebas decorativas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6528816" y="3282696"/>
            <a:ext cx="19385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9FB3BD"/>
                </a:solidFill>
              </a:rPr>
              <a:t>se valida el happy path, no el comportamiento crítico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8823960" y="2834640"/>
            <a:ext cx="2194560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5C7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8951976" y="2980944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AF2F5"/>
                </a:solidFill>
              </a:rPr>
              <a:t>Refactorización bloqueada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8951976" y="3282696"/>
            <a:ext cx="19385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9FB3BD"/>
                </a:solidFill>
              </a:rPr>
              <a:t>miedo a tocar lo que ya compila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7240" y="4069080"/>
            <a:ext cx="9966960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8B8C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1097280" y="4407408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F2F5"/>
                </a:solidFill>
              </a:rPr>
              <a:t>La pregunta que debe aprender a hacerse un junior no es solo “¿qué prompt escribo?”, sino “¿esta solución se entiende, se prueba y aguanta el siguiente cambio?”.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propuesta: JARDIN como marco mental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Un método simple para ordenar el pensamiento antes, durante y después de codificar.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139696" y="2807208"/>
            <a:ext cx="548640" cy="0"/>
          </a:xfrm>
          <a:prstGeom prst="line">
            <a:avLst/>
          </a:prstGeom>
          <a:noFill/>
          <a:ln w="17780">
            <a:solidFill>
              <a:srgbClr val="18B8C8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995928" y="2807208"/>
            <a:ext cx="548640" cy="0"/>
          </a:xfrm>
          <a:prstGeom prst="line">
            <a:avLst/>
          </a:prstGeom>
          <a:noFill/>
          <a:ln w="17780">
            <a:solidFill>
              <a:srgbClr val="18B8C8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5852160" y="2807208"/>
            <a:ext cx="548640" cy="0"/>
          </a:xfrm>
          <a:prstGeom prst="line">
            <a:avLst/>
          </a:prstGeom>
          <a:noFill/>
          <a:ln w="17780">
            <a:solidFill>
              <a:srgbClr val="18B8C8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708392" y="2807208"/>
            <a:ext cx="548640" cy="0"/>
          </a:xfrm>
          <a:prstGeom prst="line">
            <a:avLst/>
          </a:prstGeom>
          <a:noFill/>
          <a:ln w="17780">
            <a:solidFill>
              <a:srgbClr val="18B8C8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9564624" y="2807208"/>
            <a:ext cx="548640" cy="0"/>
          </a:xfrm>
          <a:prstGeom prst="line">
            <a:avLst/>
          </a:prstGeom>
          <a:noFill/>
          <a:ln w="17780">
            <a:solidFill>
              <a:srgbClr val="18B8C8">
                <a:alpha val="6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914400" y="1490472"/>
            <a:ext cx="868680" cy="868680"/>
          </a:xfrm>
          <a:prstGeom prst="ellipse">
            <a:avLst/>
          </a:prstGeom>
          <a:solidFill>
            <a:srgbClr val="18B8C8">
              <a:alpha val="85000"/>
            </a:srgbClr>
          </a:solidFill>
          <a:ln w="15240">
            <a:solidFill>
              <a:srgbClr val="18B8C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14400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J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94360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18B8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704088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Justificar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4088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el problema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2770632" y="1490472"/>
            <a:ext cx="868680" cy="868680"/>
          </a:xfrm>
          <a:prstGeom prst="ellipse">
            <a:avLst/>
          </a:prstGeom>
          <a:solidFill>
            <a:srgbClr val="35D07F">
              <a:alpha val="85000"/>
            </a:srgbClr>
          </a:solidFill>
          <a:ln w="15240">
            <a:solidFill>
              <a:srgbClr val="35D07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2770632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A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450592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5D07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2560320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Abstraer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560320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el dominio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4626864" y="1490472"/>
            <a:ext cx="868680" cy="868680"/>
          </a:xfrm>
          <a:prstGeom prst="ellipse">
            <a:avLst/>
          </a:prstGeom>
          <a:solidFill>
            <a:srgbClr val="F6C85F">
              <a:alpha val="85000"/>
            </a:srgbClr>
          </a:solidFill>
          <a:ln w="15240">
            <a:solidFill>
              <a:srgbClr val="F6C8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626864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R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306824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6C8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4416552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Representar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416552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la variabilidad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6483096" y="1490472"/>
            <a:ext cx="868680" cy="868680"/>
          </a:xfrm>
          <a:prstGeom prst="ellipse">
            <a:avLst/>
          </a:prstGeom>
          <a:solidFill>
            <a:srgbClr val="18B8C8">
              <a:alpha val="85000"/>
            </a:srgbClr>
          </a:solidFill>
          <a:ln w="15240">
            <a:solidFill>
              <a:srgbClr val="18B8C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6483096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D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6163056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18B8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6272784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Diseñar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272784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contratos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8339328" y="1490472"/>
            <a:ext cx="868680" cy="868680"/>
          </a:xfrm>
          <a:prstGeom prst="ellipse">
            <a:avLst/>
          </a:prstGeom>
          <a:solidFill>
            <a:srgbClr val="35D07F">
              <a:alpha val="85000"/>
            </a:srgbClr>
          </a:solidFill>
          <a:ln w="15240">
            <a:solidFill>
              <a:srgbClr val="35D07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I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8019288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35D07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8129016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Implementar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129016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guiado por pruebas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10195560" y="1490472"/>
            <a:ext cx="868680" cy="868680"/>
          </a:xfrm>
          <a:prstGeom prst="ellipse">
            <a:avLst/>
          </a:prstGeom>
          <a:solidFill>
            <a:srgbClr val="F6C85F">
              <a:alpha val="85000"/>
            </a:srgbClr>
          </a:solidFill>
          <a:ln w="15240">
            <a:solidFill>
              <a:srgbClr val="F6C8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/>
          <p:nvPr/>
        </p:nvSpPr>
        <p:spPr>
          <a:xfrm>
            <a:off x="10195560" y="1618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1014"/>
                </a:solidFill>
              </a:rPr>
              <a:t>N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9875520" y="2542032"/>
            <a:ext cx="1481328" cy="1463040"/>
          </a:xfrm>
          <a:prstGeom prst="roundRect">
            <a:avLst>
              <a:gd name="adj" fmla="val 1125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6C8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9985248" y="27889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5"/>
                </a:solidFill>
              </a:rPr>
              <a:t>Normalizar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985248" y="3090672"/>
            <a:ext cx="12618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9FB3BD"/>
                </a:solidFill>
              </a:rPr>
              <a:t>refactorizando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1234440" y="489204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2F5"/>
                </a:solidFill>
              </a:rPr>
              <a:t>No es burocracia. Es una secuencia de preguntas que convierte “generar código” en “construir software con criterio”.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aprende el alumno en cada letra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JARDIN traduce principios arquitectónicos a acciones de aula.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77240" y="1353312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941832" y="1554480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41832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J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18488" y="1554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Qué problema real resolvemos y para quién existe.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777240" y="2697480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941832" y="2898648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41832" y="2999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18488" y="28986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Qué conceptos importan y qué detalles sobran por ahora.</a:t>
            </a:r>
            <a:endParaRPr lang="en-US" sz="1380" dirty="0"/>
          </a:p>
        </p:txBody>
      </p:sp>
      <p:sp>
        <p:nvSpPr>
          <p:cNvPr id="18" name="Shape 15"/>
          <p:cNvSpPr/>
          <p:nvPr/>
        </p:nvSpPr>
        <p:spPr>
          <a:xfrm>
            <a:off x="777240" y="4041648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941832" y="4242816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41832" y="4343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18488" y="42428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Qué reglas variarán por cliente, país, versión o contexto.</a:t>
            </a:r>
            <a:endParaRPr lang="en-US" sz="1380" dirty="0"/>
          </a:p>
        </p:txBody>
      </p:sp>
      <p:sp>
        <p:nvSpPr>
          <p:cNvPr id="22" name="Shape 19"/>
          <p:cNvSpPr/>
          <p:nvPr/>
        </p:nvSpPr>
        <p:spPr>
          <a:xfrm>
            <a:off x="6263640" y="1353312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428232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104888" y="1554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Quién hace qué; qué contrato ofrece cada pieza al exterior.</a:t>
            </a:r>
            <a:endParaRPr lang="en-US" sz="1380" dirty="0"/>
          </a:p>
        </p:txBody>
      </p:sp>
      <p:sp>
        <p:nvSpPr>
          <p:cNvPr id="26" name="Shape 23"/>
          <p:cNvSpPr/>
          <p:nvPr/>
        </p:nvSpPr>
        <p:spPr>
          <a:xfrm>
            <a:off x="6263640" y="2697480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6428232" y="2898648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6428232" y="2999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I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04888" y="28986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Qué prueba fija el comportamiento antes de añadir complejidad.</a:t>
            </a:r>
            <a:endParaRPr lang="en-US" sz="1380" dirty="0"/>
          </a:p>
        </p:txBody>
      </p:sp>
      <p:sp>
        <p:nvSpPr>
          <p:cNvPr id="30" name="Shape 27"/>
          <p:cNvSpPr/>
          <p:nvPr/>
        </p:nvSpPr>
        <p:spPr>
          <a:xfrm>
            <a:off x="6263640" y="4041648"/>
            <a:ext cx="4983480" cy="941832"/>
          </a:xfrm>
          <a:prstGeom prst="roundRect">
            <a:avLst>
              <a:gd name="adj" fmla="val 1747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6428232" y="4242816"/>
            <a:ext cx="502920" cy="502920"/>
          </a:xfrm>
          <a:prstGeom prst="ellipse">
            <a:avLst/>
          </a:prstGeom>
          <a:solidFill>
            <a:srgbClr val="18B8C8">
              <a:alpha val="90000"/>
            </a:srgbClr>
          </a:solidFill>
          <a:ln w="12700">
            <a:solidFill>
              <a:srgbClr val="18B8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6428232" y="4343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014"/>
                </a:solidFill>
              </a:rPr>
              <a:t>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104888" y="42428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EAF2F5"/>
                </a:solidFill>
              </a:rPr>
              <a:t>Qué se puede limpiar, nombrar mejor o desacoplar con seguridad.</a:t>
            </a:r>
            <a:endParaRPr lang="en-US" sz="1380" dirty="0"/>
          </a:p>
        </p:txBody>
      </p:sp>
      <p:sp>
        <p:nvSpPr>
          <p:cNvPr id="34" name="Text 31"/>
          <p:cNvSpPr/>
          <p:nvPr/>
        </p:nvSpPr>
        <p:spPr>
          <a:xfrm>
            <a:off x="1051560" y="5577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B3BD"/>
                </a:solidFill>
              </a:rPr>
              <a:t>El resultado: juniors capaces de explicar sus decisiones y de revisar el código generado por IA con preguntas arquitectónicas básicas.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curso se aprende haciendo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Cada bloque termina con una evidencia visible: una decisión, una prueba o una mejora de diseño.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739128" y="1792224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803136" y="190195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Problema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03136" y="209397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leer antes de escribir</a:t>
            </a:r>
            <a:endParaRPr lang="en-US" sz="640" dirty="0"/>
          </a:p>
        </p:txBody>
      </p:sp>
      <p:sp>
        <p:nvSpPr>
          <p:cNvPr id="13" name="Shape 10"/>
          <p:cNvSpPr/>
          <p:nvPr/>
        </p:nvSpPr>
        <p:spPr>
          <a:xfrm>
            <a:off x="8040021" y="2615521"/>
            <a:ext cx="362121" cy="0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990320" y="2514600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054328" y="262432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Abstracción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054328" y="2816352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nombrar lo esencial</a:t>
            </a:r>
            <a:endParaRPr lang="en-US" sz="640" dirty="0"/>
          </a:p>
        </p:txBody>
      </p:sp>
      <p:sp>
        <p:nvSpPr>
          <p:cNvPr id="17" name="Shape 14"/>
          <p:cNvSpPr/>
          <p:nvPr/>
        </p:nvSpPr>
        <p:spPr>
          <a:xfrm>
            <a:off x="8529873" y="3576910"/>
            <a:ext cx="350288" cy="215903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990320" y="3959352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054328" y="40690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Prueba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54328" y="426110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proteger comportamiento</a:t>
            </a:r>
            <a:endParaRPr lang="en-US" sz="640" dirty="0"/>
          </a:p>
        </p:txBody>
      </p:sp>
      <p:sp>
        <p:nvSpPr>
          <p:cNvPr id="21" name="Shape 18"/>
          <p:cNvSpPr/>
          <p:nvPr/>
        </p:nvSpPr>
        <p:spPr>
          <a:xfrm>
            <a:off x="7942212" y="4481829"/>
            <a:ext cx="0" cy="411310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6739128" y="4681728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803136" y="479145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Código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03136" y="4983480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mínimo que funciona</a:t>
            </a:r>
            <a:endParaRPr lang="en-US" sz="640" dirty="0"/>
          </a:p>
        </p:txBody>
      </p:sp>
      <p:sp>
        <p:nvSpPr>
          <p:cNvPr id="25" name="Shape 22"/>
          <p:cNvSpPr/>
          <p:nvPr/>
        </p:nvSpPr>
        <p:spPr>
          <a:xfrm>
            <a:off x="6864699" y="4425359"/>
            <a:ext cx="0" cy="195407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5487936" y="3959352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551944" y="40690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Refactorización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551944" y="426110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mejorar sin miedo</a:t>
            </a:r>
            <a:endParaRPr lang="en-US" sz="640" dirty="0"/>
          </a:p>
        </p:txBody>
      </p:sp>
      <p:sp>
        <p:nvSpPr>
          <p:cNvPr id="29" name="Shape 26"/>
          <p:cNvSpPr/>
          <p:nvPr/>
        </p:nvSpPr>
        <p:spPr>
          <a:xfrm>
            <a:off x="6374847" y="3463970"/>
            <a:ext cx="0" cy="0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5487936" y="2514600"/>
            <a:ext cx="1426464" cy="566928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5551944" y="2624328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F2F5"/>
                </a:solidFill>
              </a:rPr>
              <a:t>Cambio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551944" y="2816352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9FB3BD"/>
                </a:solidFill>
              </a:rPr>
              <a:t>nuevo requisito real</a:t>
            </a:r>
            <a:endParaRPr lang="en-US" sz="640" dirty="0"/>
          </a:p>
        </p:txBody>
      </p:sp>
      <p:sp>
        <p:nvSpPr>
          <p:cNvPr id="33" name="Shape 30"/>
          <p:cNvSpPr/>
          <p:nvPr/>
        </p:nvSpPr>
        <p:spPr>
          <a:xfrm>
            <a:off x="6962508" y="2559051"/>
            <a:ext cx="11833" cy="0"/>
          </a:xfrm>
          <a:prstGeom prst="line">
            <a:avLst/>
          </a:prstGeom>
          <a:noFill/>
          <a:ln w="15240">
            <a:solidFill>
              <a:srgbClr val="18B8C8">
                <a:alpha val="5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6684264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B8C8"/>
                </a:solidFill>
              </a:rPr>
              <a:t>JARDIN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684264" y="3566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9FB3BD"/>
                </a:solidFill>
              </a:rPr>
              <a:t>ciclo de trabajo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49808" y="1417320"/>
            <a:ext cx="3246120" cy="3639312"/>
          </a:xfrm>
          <a:prstGeom prst="roundRect">
            <a:avLst>
              <a:gd name="adj" fmla="val 50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8B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1005840" y="1709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5"/>
                </a:solidFill>
              </a:rPr>
              <a:t>Dinámica de taller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005840" y="2176272"/>
            <a:ext cx="26974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9FB3BD"/>
                </a:solidFill>
              </a:rPr>
              <a:t>1. El alumno genera o escribe una solución rápida.</a:t>
            </a:r>
            <a:endParaRPr lang="en-US" sz="1220" dirty="0"/>
          </a:p>
          <a:p>
            <a:r>
              <a:rPr lang="en-US" sz="1220" dirty="0">
                <a:solidFill>
                  <a:srgbClr val="9FB3BD"/>
                </a:solidFill>
              </a:rPr>
              <a:t>2. Se introduce un cambio realista.</a:t>
            </a:r>
            <a:endParaRPr lang="en-US" sz="1220" dirty="0"/>
          </a:p>
          <a:p>
            <a:r>
              <a:rPr lang="en-US" sz="1220" dirty="0">
                <a:solidFill>
                  <a:srgbClr val="9FB3BD"/>
                </a:solidFill>
              </a:rPr>
              <a:t>3. El grupo detecta fragilidad, acoplamiento y duplicidad.</a:t>
            </a:r>
            <a:endParaRPr lang="en-US" sz="1220" dirty="0"/>
          </a:p>
          <a:p>
            <a:r>
              <a:rPr lang="en-US" sz="1220" dirty="0">
                <a:solidFill>
                  <a:srgbClr val="9FB3BD"/>
                </a:solidFill>
              </a:rPr>
              <a:t>4. Se rediseña con contratos, pruebas y refactorización.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1005840" y="4206240"/>
            <a:ext cx="36576" cy="411480"/>
          </a:xfrm>
          <a:prstGeom prst="rect">
            <a:avLst/>
          </a:prstGeom>
          <a:solidFill>
            <a:srgbClr val="18B8C8"/>
          </a:solidFill>
          <a:ln w="12700">
            <a:solidFill>
              <a:srgbClr val="18B8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1143000" y="4160520"/>
            <a:ext cx="2606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AF2F5"/>
                </a:solidFill>
              </a:rPr>
              <a:t>No se enseña a “usar IA”. Se enseña a no obedecerla a ciegas.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curso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Tres formatos según madurez del equipo y profundidad deseada.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41248" y="1463040"/>
            <a:ext cx="3182112" cy="3474720"/>
          </a:xfrm>
          <a:prstGeom prst="roundRect">
            <a:avLst>
              <a:gd name="adj" fmla="val 517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7899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2F5"/>
                </a:solidFill>
              </a:rPr>
              <a:t>16 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09728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AF2F5"/>
                </a:solidFill>
              </a:rPr>
              <a:t>Intensivo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2852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</a:rPr>
              <a:t>Fundamentos JARDIN + ejercicios de diseño y testing.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97280" y="4096512"/>
            <a:ext cx="1234440" cy="320040"/>
          </a:xfrm>
          <a:prstGeom prst="roundRect">
            <a:avLst>
              <a:gd name="adj" fmla="val 4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207008" y="4178808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adaptable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4572000" y="1463040"/>
            <a:ext cx="3182112" cy="3474720"/>
          </a:xfrm>
          <a:prstGeom prst="roundRect">
            <a:avLst>
              <a:gd name="adj" fmla="val 517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480974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B8C8"/>
                </a:solidFill>
              </a:rPr>
              <a:t>24 h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828032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AF2F5"/>
                </a:solidFill>
              </a:rPr>
              <a:t>Recomendado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28032" y="2852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</a:rPr>
              <a:t>Taller completo con casos evolutivos y refactorización guiada.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828032" y="4096512"/>
            <a:ext cx="1234440" cy="320040"/>
          </a:xfrm>
          <a:prstGeom prst="roundRect">
            <a:avLst>
              <a:gd name="adj" fmla="val 45714"/>
            </a:avLst>
          </a:prstGeom>
          <a:solidFill>
            <a:srgbClr val="18B8C8">
              <a:alpha val="18000"/>
            </a:srgbClr>
          </a:solidFill>
          <a:ln w="12700">
            <a:solidFill>
              <a:srgbClr val="18B8C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937760" y="4178808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más equilibrado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8302752" y="1463040"/>
            <a:ext cx="3182112" cy="3474720"/>
          </a:xfrm>
          <a:prstGeom prst="roundRect">
            <a:avLst>
              <a:gd name="adj" fmla="val 517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854049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2F5"/>
                </a:solidFill>
              </a:rPr>
              <a:t>40 h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558784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AF2F5"/>
                </a:solidFill>
              </a:rPr>
              <a:t>Academia junior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558784" y="28529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FB3BD"/>
                </a:solidFill>
              </a:rPr>
              <a:t>Proyecto final, code review, rúbricas y seguimiento.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558784" y="4096512"/>
            <a:ext cx="1234440" cy="320040"/>
          </a:xfrm>
          <a:prstGeom prst="roundRect">
            <a:avLst>
              <a:gd name="adj" fmla="val 4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8668512" y="4178808"/>
            <a:ext cx="10149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adaptable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1097280" y="5486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2F5"/>
                </a:solidFill>
              </a:rPr>
              <a:t>Módulos comunes: problema → abstracción → variabilidad → contratos → pruebas → refactorización → proyecto final.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“sé pedir código” a “sé decidir si sirve”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El curso cambia la conversación técnica del equipo.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22960" y="1417320"/>
            <a:ext cx="4800600" cy="3566160"/>
          </a:xfrm>
          <a:prstGeom prst="roundRect">
            <a:avLst>
              <a:gd name="adj" fmla="val 46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5C70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537960" y="1417320"/>
            <a:ext cx="4800600" cy="3566160"/>
          </a:xfrm>
          <a:prstGeom prst="roundRect">
            <a:avLst>
              <a:gd name="adj" fmla="val 461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35D07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143000" y="1783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70"/>
                </a:solidFill>
              </a:rPr>
              <a:t>Antes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43000" y="2331720"/>
            <a:ext cx="393192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“La IA me ha generado una solución.”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Copio sin modelo mental.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Mido éxito por compilar.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Temo cambiar el código.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Pido patrones sin saber por qué.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1783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5D07F"/>
                </a:solidFill>
              </a:rPr>
              <a:t>Después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858000" y="2331720"/>
            <a:ext cx="393192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“Sé justificar, probar y mejorar la solución.”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Detecto variabilidad.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Diseño contratos mínimos.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Protejo comportamiento con tests.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</a:rPr>
              <a:t>• Refactorizo con criterio.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3154680"/>
            <a:ext cx="594360" cy="0"/>
          </a:xfrm>
          <a:prstGeom prst="line">
            <a:avLst/>
          </a:prstGeom>
          <a:noFill/>
          <a:ln w="31750">
            <a:solidFill>
              <a:srgbClr val="18B8C8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502920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B8C8"/>
                </a:solidFill>
              </a:rPr>
              <a:t>madurez técnica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interesa al cliente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La formación convierte onboarding junior y adopción de IA en menos deuda técnica.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41248" y="1417320"/>
            <a:ext cx="489204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69848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5"/>
                </a:solidFill>
              </a:rPr>
              <a:t>Menos retrabajo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1920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FB3BD"/>
                </a:solidFill>
              </a:rPr>
              <a:t>El alumno aprende a detectar diseños frágiles antes de que entren en producción.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373368" y="1417320"/>
            <a:ext cx="489204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601968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5"/>
                </a:solidFill>
              </a:rPr>
              <a:t>Mejor code review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1920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FB3BD"/>
                </a:solidFill>
              </a:rPr>
              <a:t>Un vocabulario común para discutir responsabilidad, contrato y cambio.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841248" y="2971800"/>
            <a:ext cx="489204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1069848" y="31546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5"/>
                </a:solidFill>
              </a:rPr>
              <a:t>IA con supervisión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69848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FB3BD"/>
                </a:solidFill>
              </a:rPr>
              <a:t>El equipo no valida por autoridad de la herramienta, sino por criterios de diseño.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373368" y="2971800"/>
            <a:ext cx="489204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6601968" y="31546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5"/>
                </a:solidFill>
              </a:rPr>
              <a:t>Base para crecer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01968" y="34747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FB3BD"/>
                </a:solidFill>
              </a:rPr>
              <a:t>SOLID, pruebas y refactorización aterrizan en ejercicios realistas.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1828800" y="4892040"/>
            <a:ext cx="8549640" cy="731520"/>
          </a:xfrm>
          <a:prstGeom prst="roundRect">
            <a:avLst>
              <a:gd name="adj" fmla="val 225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8B8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2148840" y="513892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AF2F5"/>
                </a:solidFill>
              </a:rPr>
              <a:t>Mensaje comercial: JARDIN no vende “más prompts”; vende juniors capaces de razonar el software que la IA acelera.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Entregables de formación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Cada sesión deja artefactos reutilizables por el equipo.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49808" y="1371600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932688" y="1572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Ficha de problema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2688" y="1901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criterios de aceptación y cambios previsibles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26280" y="1371600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709160" y="1572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Mapa de abstracciones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09160" y="1901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conceptos, roles y comportamientos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02752" y="1371600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485632" y="1572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Tabla de variabilidad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85632" y="1901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puntos de cambio y mecanismos de diseño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" y="2953512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32688" y="3154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Contratos y responsabilidades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2688" y="3483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interfaces, límites y principios a vigilar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26280" y="2953512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4709160" y="3154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Batería de pruebas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09160" y="3483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casos mínimos y comportamiento protegido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02752" y="2953512"/>
            <a:ext cx="324612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8485632" y="3154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AF2F5"/>
                </a:solidFill>
              </a:rPr>
              <a:t>Checklist de refactorización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485632" y="3483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FB3BD"/>
                </a:solidFill>
              </a:rPr>
              <a:t>nombres, duplicidad, acoplamiento y claridad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05840" y="5120640"/>
            <a:ext cx="36576" cy="411480"/>
          </a:xfrm>
          <a:prstGeom prst="rect">
            <a:avLst/>
          </a:prstGeom>
          <a:solidFill>
            <a:srgbClr val="18B8C8"/>
          </a:solidFill>
          <a:ln w="12700">
            <a:solidFill>
              <a:srgbClr val="18B8C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1143000" y="5074920"/>
            <a:ext cx="9921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AF2F5"/>
                </a:solidFill>
              </a:rPr>
              <a:t>Lo importante no es que el alumno entregue mucho código; es que pueda explicar por qué ese código aguanta el siguiente cambio.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8"/>
          </a:solidFill>
          <a:ln w="12700">
            <a:solidFill>
              <a:srgbClr val="07131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83464"/>
            <a:ext cx="2011680" cy="36576"/>
          </a:xfrm>
          <a:prstGeom prst="rect">
            <a:avLst/>
          </a:prstGeom>
          <a:solidFill>
            <a:srgbClr val="18B8C8">
              <a:alpha val="55000"/>
            </a:srgbClr>
          </a:solidFill>
          <a:ln w="12700">
            <a:solidFill>
              <a:srgbClr val="18B8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921240" y="283464"/>
            <a:ext cx="1554480" cy="36576"/>
          </a:xfrm>
          <a:prstGeom prst="rect">
            <a:avLst/>
          </a:prstGeom>
          <a:solidFill>
            <a:srgbClr val="0D7F8B">
              <a:alpha val="52000"/>
            </a:srgbClr>
          </a:solidFill>
          <a:ln w="12700">
            <a:solidFill>
              <a:srgbClr val="0D7F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mnt/data/portfolio/Portfolio/assets/img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27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309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desaprendiendo formación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291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FB3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47548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comercial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4088" y="941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9FB3BD"/>
                </a:solidFill>
              </a:rPr>
              <a:t>Una propuesta clara para empresas que quieren adoptar IA sin empobrecer el criterio técnico.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22960" y="1325880"/>
            <a:ext cx="6400800" cy="3749040"/>
          </a:xfrm>
          <a:prstGeom prst="roundRect">
            <a:avLst>
              <a:gd name="adj" fmla="val 439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18B8C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143000" y="1755648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2F5"/>
                </a:solidFill>
              </a:rPr>
              <a:t>Curso JARDIN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43000" y="22860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3BD"/>
                </a:solidFill>
              </a:rPr>
              <a:t>Para equipos junior, bootcamps internos y academias corporativas que necesitan acelerar la programación con IA sin aceptar cualquier diseño generado.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3337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B8C8"/>
                </a:solidFill>
              </a:rPr>
              <a:t>Próximo paso recomendado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37033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2F5"/>
                </a:solidFill>
              </a:rPr>
              <a:t>Piloto de 16/24 horas con un caso real de la organización y rúbrica de evaluación técnica.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818120" y="1325880"/>
            <a:ext cx="3474720" cy="3749040"/>
          </a:xfrm>
          <a:prstGeom prst="roundRect">
            <a:avLst>
              <a:gd name="adj" fmla="val 47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8B8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1" descr="/mnt/data/portfolio/Portfolio/assets/img/foto_pers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691640"/>
            <a:ext cx="1627632" cy="16276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38160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2F5"/>
                </a:solidFill>
              </a:rPr>
              <a:t>Jacinto Aisa Ibañez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13816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9FB3BD"/>
                </a:solidFill>
              </a:rPr>
              <a:t>Executive Trainer · Formación In-Company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9FB3BD"/>
                </a:solidFill>
              </a:rPr>
              <a:t>Arquitectura, .NET, Azure, Data/BI y programación orientada al cambio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8211312" y="4700016"/>
            <a:ext cx="2697480" cy="320040"/>
          </a:xfrm>
          <a:prstGeom prst="roundRect">
            <a:avLst>
              <a:gd name="adj" fmla="val 45714"/>
            </a:avLst>
          </a:prstGeom>
          <a:solidFill>
            <a:srgbClr val="18B8C8">
              <a:alpha val="16000"/>
            </a:srgbClr>
          </a:solidFill>
          <a:ln w="12700">
            <a:solidFill>
              <a:srgbClr val="18B8C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8321040" y="4782312"/>
            <a:ext cx="2478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AF2F5"/>
                </a:solidFill>
              </a:rPr>
              <a:t>jacinto@desaprendiendo.net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Panorámica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desaprendiendo formación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JARDIN · Programar con IA sin perder criterio arquitectónico</dc:title>
  <dc:subject>Curso JARDIN para programadores junior en la era de la IA</dc:subject>
  <dc:creator>OpenAI</dc:creator>
  <cp:lastModifiedBy>Jacinto Aisa Ibañez</cp:lastModifiedBy>
  <cp:revision>2</cp:revision>
  <dcterms:created xsi:type="dcterms:W3CDTF">2026-04-24T14:22:00Z</dcterms:created>
  <dcterms:modified xsi:type="dcterms:W3CDTF">2026-04-25T10:19:34Z</dcterms:modified>
</cp:coreProperties>
</file>